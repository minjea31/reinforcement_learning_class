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769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1450" y="114300"/>
            <a:ext cx="2857500" cy="61912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40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28750"/>
            <a:ext cx="10477500" cy="2095499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50"/>
              </a:spcAft>
              <a:defRPr sz="5400" b="1">
                <a:solidFill>
                  <a:srgbClr val="FFFFFF"/>
                </a:solidFill>
                <a:latin typeface="맑은 고딕"/>
              </a:defRPr>
            </a:pPr>
            <a:r>
              <a:t>강화학습</a:t>
            </a:r>
          </a:p>
          <a:p>
            <a:pPr algn="l">
              <a:lnSpc>
                <a:spcPct val="120000"/>
              </a:lnSpc>
              <a:spcAft>
                <a:spcPts val="750"/>
              </a:spcAft>
              <a:defRPr sz="5400" b="1">
                <a:solidFill>
                  <a:srgbClr val="FFFFFF"/>
                </a:solidFill>
                <a:latin typeface="맑은 고딕"/>
              </a:defRPr>
            </a:pPr>
            <a:r>
              <a:t>Week4 HW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3714750"/>
            <a:ext cx="9525000" cy="571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2175" b="0">
                <a:solidFill>
                  <a:srgbClr val="FFFFFF"/>
                </a:solidFill>
                <a:latin typeface="맑은 고딕"/>
              </a:defRPr>
            </a:pPr>
            <a:r>
              <a:t>Quiz 1 · Quiz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700" y="6115050"/>
            <a:ext cx="10953750" cy="4762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875" b="1">
                <a:solidFill>
                  <a:srgbClr val="080808"/>
                </a:solidFill>
                <a:latin typeface="맑은 고딕"/>
              </a:defRPr>
            </a:pPr>
            <a:r>
              <a:t>지능로봇공학과 2021042040 김민재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4375" y="1333500"/>
            <a:ext cx="7048500" cy="4572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  <a:defRPr sz="2250" b="1">
                <a:solidFill>
                  <a:srgbClr val="080808"/>
                </a:solidFill>
                <a:latin typeface="맑은 고딕"/>
              </a:defRPr>
            </a:pPr>
            <a:r>
              <a:t>1. Quiz 1 — Policy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0" y="1905000"/>
            <a:ext cx="7048500" cy="1047749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  <a:defRPr sz="1800" b="0">
                <a:solidFill>
                  <a:srgbClr val="080808"/>
                </a:solidFill>
                <a:latin typeface="맑은 고딕"/>
              </a:defRPr>
            </a:pPr>
            <a:r>
              <a:t>a. 코드 분석</a:t>
            </a:r>
          </a:p>
          <a:p>
            <a:pPr algn="l">
              <a:lnSpc>
                <a:spcPct val="120000"/>
              </a:lnSpc>
              <a:spcAft>
                <a:spcPts val="150"/>
              </a:spcAft>
              <a:defRPr sz="1800" b="0">
                <a:solidFill>
                  <a:srgbClr val="080808"/>
                </a:solidFill>
                <a:latin typeface="맑은 고딕"/>
              </a:defRPr>
            </a:pPr>
            <a:r>
              <a:t>b. 다섯 정책의 결과 분석</a:t>
            </a:r>
          </a:p>
          <a:p>
            <a:pPr algn="l">
              <a:lnSpc>
                <a:spcPct val="120000"/>
              </a:lnSpc>
              <a:spcAft>
                <a:spcPts val="150"/>
              </a:spcAft>
              <a:defRPr sz="1800" b="0">
                <a:solidFill>
                  <a:srgbClr val="080808"/>
                </a:solidFill>
                <a:latin typeface="맑은 고딕"/>
              </a:defRPr>
            </a:pPr>
            <a:r>
              <a:t>c. 정책에 따른 V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4375" y="3067050"/>
            <a:ext cx="7048500" cy="4572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  <a:defRPr sz="2250" b="1">
                <a:solidFill>
                  <a:srgbClr val="080808"/>
                </a:solidFill>
                <a:latin typeface="맑은 고딕"/>
              </a:defRPr>
            </a:pPr>
            <a:r>
              <a:t>2. Quiz 2 — 5×5 GridWorld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0" y="3638550"/>
            <a:ext cx="7048500" cy="1047749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  <a:defRPr sz="1800" b="0">
                <a:solidFill>
                  <a:srgbClr val="080808"/>
                </a:solidFill>
                <a:latin typeface="맑은 고딕"/>
              </a:defRPr>
            </a:pPr>
            <a:r>
              <a:t>a. 정책 반복 과정 및 최종 결과</a:t>
            </a:r>
          </a:p>
          <a:p>
            <a:pPr algn="l">
              <a:lnSpc>
                <a:spcPct val="120000"/>
              </a:lnSpc>
              <a:spcAft>
                <a:spcPts val="150"/>
              </a:spcAft>
              <a:defRPr sz="1800" b="0">
                <a:solidFill>
                  <a:srgbClr val="080808"/>
                </a:solidFill>
                <a:latin typeface="맑은 고딕"/>
              </a:defRPr>
            </a:pPr>
            <a:r>
              <a:t>b. 가치 반복 과정 및 최종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4375" y="4800600"/>
            <a:ext cx="7048500" cy="4572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  <a:defRPr sz="2250" b="1">
                <a:solidFill>
                  <a:srgbClr val="080808"/>
                </a:solidFill>
                <a:latin typeface="맑은 고딕"/>
              </a:defRPr>
            </a:pPr>
            <a:r>
              <a:t>3. 전체 결과 비교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750" y="2762250"/>
            <a:ext cx="11620500" cy="100012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900"/>
              </a:spcAft>
              <a:defRPr sz="4875" b="1">
                <a:solidFill>
                  <a:srgbClr val="080808"/>
                </a:solidFill>
                <a:latin typeface="맑은 고딕"/>
              </a:defRPr>
            </a:pPr>
            <a:r>
              <a:t>Quiz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" y="3905249"/>
            <a:ext cx="11620500" cy="762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900"/>
              </a:spcAft>
              <a:defRPr sz="2775" b="0">
                <a:solidFill>
                  <a:srgbClr val="080808"/>
                </a:solidFill>
                <a:latin typeface="맑은 고딕"/>
              </a:defRPr>
            </a:pPr>
            <a:r>
              <a:t>Policy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1. Quiz 1 – 환경 및 계산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policy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645732"/>
            <a:ext cx="5334000" cy="4042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GridWorld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3×4 환경 / 시작 (2,0) / 목표 (0,3) / 벽 (1,1)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행동 순서: UP, DOWN, LEFT, RIGHT. 할인율 γ=0.9, 임곗값 0.001.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목표 진입 보상 +1, (1,3) 진입 또는 머무름 보상 -1. 경계·벽에 막히면 현재 칸에 머문다.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목표는 종료 상태로 V=0. 그래프의 숫자는 해당 정책을 따를 때의 기대 할인 보상이다.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1. Quiz 1 – 코드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" y="1285875"/>
            <a:ext cx="5334000" cy="485775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1428750"/>
            <a:ext cx="5076825" cy="46005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def eval_onestep(pi, V, env, gamma=0.9):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for state in env.states():  # 각 상태에 접근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if state == env.goal_state:  # 목표 상태에서의 가치 함수는 항상 0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    V[state] = 0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    continue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action_probs = pi[state] # probs는 probabilities(확률)의 약자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new_V = 0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# 각 행동에 접근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for action, action_prob in action_probs.items(): # items는 pi(a|s)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    next_state = env.next_state(state, action)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    r = env.reward(state, action, next_state)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    # 새로운 가치 함수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    new_V += action_prob * (r + gamma * V[next_state])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V[state] = new_V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return 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One-step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각 상태에서 가능한 행동의 보상과 다음 상태 가치를 계산하고 행동 확률로 가중 평균한다.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V(s) = Σ π(a|s) [r + 0.9V(s′)]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r은 현재 칸의 표시 보상이 아니라 이번 행동으로 다음 칸에 들어갈 때 받는 보상이다.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같은 딕셔너리를 순서대로 갱신하므로 이미 갱신한 이웃의 값을 바로 사용한다.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1. Quiz 1 – 코드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" y="1285875"/>
            <a:ext cx="5334000" cy="485775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1428750"/>
            <a:ext cx="5076825" cy="46005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def policy_eval(pi, V, env, gamma, threshold=0.001):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while True: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old_V = V.copy()  # 갱신 전 가치 함수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V = eval_onestep(pi, V, env, gamma)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# 갱신된 양의 최댓값 계산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delta = 0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for state in V.keys():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    t = abs(V[state] - old_V[state])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    if delta &lt; t: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        delta = t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# 임곗값과 비교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if delta &lt; threshold: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    break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return 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Iterative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현재 정책을 고정하고 one-step evaluation을 반복한다.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갱신 전후 가치 차이의 최댓값 Δ가 0.001 미만이면 종료한다.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다섯 정책을 각각 독립적으로 평가한다. 정책 ①에서 ⑤로 개선하는 과정은 아니다.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1. Quiz 1 – 결과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policy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645732"/>
            <a:ext cx="5334000" cy="4042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① 위로만 이동 [1, 0, 0, 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대부분의 칸은 위쪽 경계나 벽에 막혀 보상 0만 받으므로 V=0이다.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(1,3)은 바로 목표로 들어가 V=1이다.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(2,3)은 -1을 받은 뒤 목표 보상 +1을 받아 V=-1+0.9×1=-0.1이다.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시작 상태 V(2,0)=0. 목표까지 연결되는 경로가 없다.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1. Quiz 1 – 결과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policy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645732"/>
            <a:ext cx="5334000" cy="4042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② 아래로만 이동 [0, 1, 0, 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모든 유효 상태의 V=0이다. 아래로 이동하다가 벽이나 아래쪽 경계에 머문다.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(1,3)에서 출발해도 아래 칸의 보상이 0이므로 V=0이다.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목표 (0,3)에서 아래로 이동한다고 가정하면 -1이지만, 목표는 종료 상태이므로 추가 행동을 하지 않고 V=0으로 고정한다.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1. Quiz 1 – 결과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policy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645732"/>
            <a:ext cx="5334000" cy="4042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③ 왼쪽으로만 이동 [0, 0, 1, 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목표 반대쪽으로 이동하다가 왼쪽 경계나 벽에 머문다.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목표에도 음수 보상 칸에도 진입하지 않아 모든 유효 상태의 V=0이다.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②와 이동 방향은 다르지만 받을 보상이 모두 0이라 가치 결과는 같다.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1. Quiz 1 – 결과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policy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645732"/>
            <a:ext cx="5334000" cy="4042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④ 오른쪽으로만 이동 [0, 0, 0, 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위 행에서는 목표에 도달한다. 목표에 가까울수록 0.81 → 0.90 → 1.00으로 가치가 커진다.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(1,2)와 (1,3)은 음수 보상 칸에 계속 머물러 -1을 반복해서 받는다.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이론값은 -1/(1-0.9)=-10. 계산값 -9.9914는 종료 임곗값에 따른 근삿값이다.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시작 상태는 아래 행에서 오른쪽 경계에 머물러 V=0이다.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1. Quiz 1 – 결과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policy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645732"/>
            <a:ext cx="5334000" cy="4042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⑤ 위쪽 선호 확률적 이동 [0.7, 0.1, 0.1, 0.1]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위 70%, 나머지 방향 각 10%. 그래프는 가장 확률이 높은 위쪽 화살표만 표시한다.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오른쪽으로도 이동할 수 있어 왼쪽 칸에서도 목표 보상을 얻을 가능성이 생긴다. 시작 상태 V≈0.0392.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(1,3)은 70% 확률로 목표에 진입해 V≈0.6458이다.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(2,3)은 음수 보상 칸에 들어갈 가능성이 높아 V≈-0.3449이다.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1. Quiz 1 – 정책에 따른 V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6250" y="1162050"/>
          <a:ext cx="11239500" cy="3028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3250"/>
                <a:gridCol w="1873250"/>
                <a:gridCol w="1873250"/>
                <a:gridCol w="1873250"/>
                <a:gridCol w="1873250"/>
                <a:gridCol w="1873250"/>
              </a:tblGrid>
              <a:tr h="504825">
                <a:tc>
                  <a:txBody>
                    <a:bodyPr/>
                    <a:lstStyle/>
                    <a:p>
                      <a:pPr algn="ctr">
                        <a:defRPr sz="16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>
                    <a:solidFill>
                      <a:srgbClr val="1C5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① 위</a:t>
                      </a:r>
                    </a:p>
                  </a:txBody>
                  <a:tcPr anchor="ctr">
                    <a:solidFill>
                      <a:srgbClr val="1C5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② 아래</a:t>
                      </a:r>
                    </a:p>
                  </a:txBody>
                  <a:tcPr anchor="ctr">
                    <a:solidFill>
                      <a:srgbClr val="1C5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③ 왼쪽</a:t>
                      </a:r>
                    </a:p>
                  </a:txBody>
                  <a:tcPr anchor="ctr">
                    <a:solidFill>
                      <a:srgbClr val="1C5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④ 오른쪽</a:t>
                      </a:r>
                    </a:p>
                  </a:txBody>
                  <a:tcPr anchor="ctr">
                    <a:solidFill>
                      <a:srgbClr val="1C5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⑤ 위쪽 선호</a:t>
                      </a:r>
                    </a:p>
                  </a:txBody>
                  <a:tcPr anchor="ctr">
                    <a:solidFill>
                      <a:srgbClr val="1C50B3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(0,2)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0.3513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(1,2)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-9.9914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0.2085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(1,3)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-9.9914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0.6458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(2,3)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-0.1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-0.3449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시작 (2,0)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0.0392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76250" y="4448175"/>
            <a:ext cx="11239500" cy="20002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1975" y="4962525"/>
            <a:ext cx="11068050" cy="1390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562475"/>
            <a:ext cx="108204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V가 변하는 이유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5095875"/>
            <a:ext cx="10763250" cy="12096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650" b="1">
                <a:solidFill>
                  <a:srgbClr val="080808"/>
                </a:solidFill>
                <a:latin typeface="맑은 고딕"/>
              </a:defRPr>
            </a:pPr>
            <a:r>
              <a:t>정책이 바뀌면 목표까지의 경로·이동 시간·음수 보상 횟수가 달라진다.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650" b="1">
                <a:solidFill>
                  <a:srgbClr val="080808"/>
                </a:solidFill>
                <a:latin typeface="맑은 고딕"/>
              </a:defRPr>
            </a:pPr>
            <a:r>
              <a:t>같은 칸의 보상 표시는 고정되어 있어도 미래 보상의 기대값 V는 달라진다.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650" b="1">
                <a:solidFill>
                  <a:srgbClr val="080808"/>
                </a:solidFill>
                <a:latin typeface="맑은 고딕"/>
              </a:defRPr>
            </a:pPr>
            <a:r>
              <a:t>⑤가 시작 상태에서 다섯 정책 중 가장 높다. 전체 가능한 정책 중 최적이라는 의미는 아니다.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1. Quiz 1 – V 계산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policy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645732"/>
            <a:ext cx="5334000" cy="4042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(0,2)와 (2,3)의 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(0,2): ④는 즉시 목표에 들어가 V=1. ⑤는 즉시 오른쪽으로 갈 확률이 10%이고 경계에 머무르는 시간이 길어 V≈0.3513으로 감소한다.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⑤의 V(0,2) = 0.7[0.9V(0,2)] + 0.1[0.9V(1,2)] + 0.1[0.9V(0,1)] + 0.1×1.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(2,3): ①은 -1+0.9×1=-0.1. ⑤에서는 다음 상태 (1,3)의 가치도 0.6458로 낮아져 최종 V≈-0.3449가 된다.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위쪽 이동 확률을 줄였다고 반드시 V가 높아지지는 않는다. 다음 상태의 미래 보상도 함께 달라진다.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750" y="2762250"/>
            <a:ext cx="11620500" cy="100012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900"/>
              </a:spcAft>
              <a:defRPr sz="4875" b="1">
                <a:solidFill>
                  <a:srgbClr val="080808"/>
                </a:solidFill>
                <a:latin typeface="맑은 고딕"/>
              </a:defRPr>
            </a:pPr>
            <a:r>
              <a:t>Quiz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" y="3905249"/>
            <a:ext cx="11620500" cy="762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900"/>
              </a:spcAft>
              <a:defRPr sz="2775" b="0">
                <a:solidFill>
                  <a:srgbClr val="080808"/>
                </a:solidFill>
                <a:latin typeface="맑은 고딕"/>
              </a:defRPr>
            </a:pPr>
            <a:r>
              <a:t>Policy Iteration · Value Iteration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2. Quiz 2 – 5×5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step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238250"/>
            <a:ext cx="4857750" cy="48577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환경 설정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시작 (4,0), 목표 (0,4), 벽 (2,1)·(2,2). 좌표는 (행, 열), 0부터 시작한다.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폭탄 (0,3)·(3,4)에 진입하면 -1, 목표에 진입하면 +1. 나머지는 0.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폭탄은 Q1과 같은 비종료 칸으로 해석했다. 목표만 종료 상태이며 V=0이다.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할인율 0.9, 임곗값 0.001. 동일한 환경에서 두 알고리즘을 비교한다.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2. Quiz 2 – 정책 반복 코드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" y="1285875"/>
            <a:ext cx="5334000" cy="485775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1428750"/>
            <a:ext cx="5076825" cy="46005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def policy_iter(env, gamma, threshold=0.001, is_render=True):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pi = defaultdict(lambda: {0: 0.25, 1: 0.25, 2: 0.25, 3: 0.25})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V = defaultdict(lambda: 0)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while True: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V = policy_eval(pi, V, env, gamma, threshold)  # 평가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new_pi = greedy_policy(V, env, gamma)  # 개선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if is_render: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    env.render_v(V, pi)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if new_pi == pi:  # 갱신 여부 확인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    break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pi = new_pi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return 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Policy Iteration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균등 무작위 정책으로 시작한다.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현재 정책을 임곗값까지 평가한 다음, r+0.9V(s′)가 가장 큰 행동으로 정책을 개선한다.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개선 전후 정책이 같으면 종료한다. 그래프는 평가 직후의 가치와 평가에 사용한 현재 정책을 표시한다.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하나의 step 안에 정책 평가를 위한 여러 순회가 포함된다.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2. Quiz 2 – 가치 반복 코드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" y="1285875"/>
            <a:ext cx="5334000" cy="485775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1428750"/>
            <a:ext cx="5076825" cy="46005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def value_iter_onestep(V, env, gamma):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for state in env.states():  # 모든 상태에 차례로 접근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if state == env.goal_state:  # 목표 상태에서의 가치 함수는 항상 0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    V[state] = 0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    continue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action_values = []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for action in env.actions():  # 모든 행동에 차례로 접근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    next_state = env.next_state(state, action)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    r = env.reward(state, action, next_state)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    value = r + gamma * V[next_state]  # 새로운 가치 함수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    action_values.append(value)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    V[state] = max(action_values)  # 최댓값 추출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t>    return 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Value Iteration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정책의 확률 평균 대신 모든 행동 중 최댓값으로 V를 갱신한다.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V(s)=max [r+0.9V(s′)]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전체 상태를 한 번 갱신한 결과를 매 단계 저장한다. 최대 변화량이 0.001 미만이면 종료한다.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V가 수렴한 뒤 탐욕 정책을 한 번 계산한다. 동일 순회에서 최신 값을 사용한다.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2. Quiz 2 – 정책 반복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step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238250"/>
            <a:ext cx="4857750" cy="48577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step_00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시작 상태 가치: -0.17333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네 방향을 각각 25%로 선택하는 무작위 정책을 평가한 결과다. 폭탄에 진입하거나 머무를 가능성이 있어 목표를 제외한 모든 상태의 가치가 음수다. 시작 상태는 -0.17333이며, 폭탄 아래 (4,4)는 -1.29392로 특히 낮다. 이 가치를 기준으로 다음 정책을 개선한다.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2. Quiz 2 – 정책 반복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step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238250"/>
            <a:ext cx="4857750" cy="48577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step_01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시작 상태 가치: -0.00677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첫 개선으로 목표 가까이에서는 목표를 향하는 행동이 선택된다. (0,3)과 (1,4)는 1, (1,3)은 0.9가 된다. 하지만 왼쪽에서는 폭탄을 피하는 행동이 벽에 막히거나 목표와 연결되지 않아 가치가 거의 0이다. 시작 상태는 -0.00677까지 개선된다. 작은 음수는 이전 가치에서 출발해 임곗값까지 평가한 근사 오차이며, 보상 없이 계속 머무르는 상태의 정확한 가치는 0이다.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2. Quiz 2 – 정책 반복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step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238250"/>
            <a:ext cx="4857750" cy="48577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step_02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시작 상태 가치: -0.00236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다음 개선으로 위쪽과 가운데 아래 행에 목표까지 이어지는 경로가 생긴다. (1,2)는 0.81, (3,3)은 0.729로 상승한다. 그러나 맨 아래 행은 오른쪽으로만 이동하다가 (4,4)의 경계에 머무는 정책이므로 아직 목표에 도달하지 못한다. 시작 상태는 약 -0.00236으로 0에 가깝다.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2. Quiz 2 – 정책 반복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step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238250"/>
            <a:ext cx="4857750" cy="48577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step_03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시작 상태 가치: 0.47830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맨 아래 행의 (4,0)부터 (4,3)까지 화살표가 위쪽으로 바뀌어 목표 경로와 연결된다. 시작 상태 가치는 0.47830이 된다. (2,0)도 아래로 우회하던 경로에서 위로 가는 더 짧은 경로로 바뀌어 0.47830에서 0.59049로 상승한다. 다만 (4,4)는 여전히 오른쪽 경계에 머물러 약 -0.00191이다.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2. Quiz 2 – 정책 반복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step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238250"/>
            <a:ext cx="4857750" cy="48577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step_04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시작 상태 가치: 0.47830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오른쪽 아래 (4,4)가 왼쪽 이동으로 바뀌어 폭탄을 피해 목표에 도달하며 가치가 0.59049로 상승한다. 아래 행의 일부 칸은 위쪽 대신 오른쪽을 선택하지만 같은 길이의 최적 경로이므로 가치가 변하지 않는다. 개선 후 정책이 현재 정책과 같아져 반복을 종료한다.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2. Quiz 2 – 정책 반복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step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238250"/>
            <a:ext cx="4857750" cy="48577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시작 상태 가치: 0.47830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확정된 정책을 다시 평가한 최종 결과다. step_04와 같은 최적 가치와 정책이며, 시작 상태에서 폭탄을 피하는 8번의 이동으로 목표에 도달한다.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2. Quiz 2 – 가치 반복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step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238250"/>
            <a:ext cx="4857750" cy="48577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step_00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시작 상태 가치: 0.00000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모든 상태의 가치를 0으로 초기화한 상태다. 아직 목표 보상이 다른 상태에 반영되지 않았으며 정책도 정하지 않았다.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2. Quiz 2 – 가치 반복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step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238250"/>
            <a:ext cx="4857750" cy="48577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step_01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시작 상태 가치: 0.00000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첫 갱신에서 목표로 바로 이동하는 (0,3)과 (1,4)의 가치가 1이 된다. 행 순서대로 갱신하면서 최신 값을 바로 사용하므로 (2,4)는 0.9, (3,4)는 0.81까지 같은 순회에서 갱신된다. 시작 상태는 아직 0이다.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2. Quiz 2 – 가치 반복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step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238250"/>
            <a:ext cx="4857750" cy="48577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step_02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시작 상태 가치: 0.00000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목표 보상이 오른쪽의 3열과 맨 아래 오른쪽으로 전달된다. (1,3)은 0.9, (2,3)은 0.81, (3,3)은 0.729, (4,3)은 0.65610이 된다. (4,4)는 폭탄 위로 이동하는 대신 왼쪽을 선택하는 가치가 반영되어 0.59049가 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2. Quiz 2 – 가치 반복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step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238250"/>
            <a:ext cx="4857750" cy="48577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step_03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시작 상태 가치: 0.00000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양수 가치가 2열로 확장된다. (1,2)는 0.81, (3,2)는 0.65610, (4,2)는 0.59049가 된다. 두 벽 때문에 보상은 벽을 통과하지 않고 위쪽과 아래쪽 경로를 통해 전달된다.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2. Quiz 2 – 가치 반복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step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238250"/>
            <a:ext cx="4857750" cy="48577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step_04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시작 상태 가치: 0.00000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1열에도 목표까지의 가치가 전달된다. (1,1)은 0.729, (3,1)은 0.59049, (4,1)은 0.53144가 된다. (0,2)는 바로 오른쪽 폭탄으로 진입하기보다 아래로 우회하는 가치 0.729를 갖는다.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2. Quiz 2 – 가치 반복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step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238250"/>
            <a:ext cx="4857750" cy="48577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step_05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시작 상태 가치: 0.47830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목표 보상이 왼쪽 0열과 시작 상태까지 전달된다. (1,0)은 0.65610, (2,0)은 0.59049, 시작 상태 (4,0)는 0.47830이 된다. 다만 순회 초반에 처리되는 (0,0)은 아직 갱신 전 이웃 값을 사용해 0이다.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2. Quiz 2 – 가치 반복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step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238250"/>
            <a:ext cx="4857750" cy="48577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step_06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시작 상태 가치: 0.47830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남아 있던 (0,0)이 오른쪽 이웃의 가치를 사용해 0.59049로 바뀐다. 모든 유효 상태의 가치가 최적값에 도달한다. 그다음 한 번 더 갱신하여 변화량이 0임을 확인하고 반복을 종료한다.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2. Quiz 2 – 가치 반복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step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238250"/>
            <a:ext cx="4857750" cy="48577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시작 상태 가치: 0.47830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수렴한 가치에서 각 행동의 보상 + 0.9 × 다음 상태 가치를 비교해 탐욕 정책을 구한다. 여기서 처음으로 화살표를 표시한다. 정책 반복의 최종 결과와 가치·정책이 일치한다.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2. Quiz 2 – 최종 가치 및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028700"/>
            <a:ext cx="5238750" cy="42862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900"/>
              </a:spcAft>
              <a:defRPr sz="1875" b="1">
                <a:solidFill>
                  <a:srgbClr val="080808"/>
                </a:solidFill>
                <a:latin typeface="맑은 고딕"/>
              </a:defRPr>
            </a:pPr>
            <a:r>
              <a:t>정책 반복</a:t>
            </a:r>
          </a:p>
        </p:txBody>
      </p:sp>
      <p:pic>
        <p:nvPicPr>
          <p:cNvPr id="7" name="Picture 6" descr="step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428750"/>
            <a:ext cx="4381500" cy="4381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1750" y="1028700"/>
            <a:ext cx="5238750" cy="42862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900"/>
              </a:spcAft>
              <a:defRPr sz="1875" b="1">
                <a:solidFill>
                  <a:srgbClr val="080808"/>
                </a:solidFill>
                <a:latin typeface="맑은 고딕"/>
              </a:defRPr>
            </a:pPr>
            <a:r>
              <a:t>가치 반복</a:t>
            </a:r>
          </a:p>
        </p:txBody>
      </p:sp>
      <p:pic>
        <p:nvPicPr>
          <p:cNvPr id="9" name="Picture 8" descr="step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75" y="1428750"/>
            <a:ext cx="4381500" cy="438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6115050"/>
            <a:ext cx="11239500" cy="42862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080808"/>
                </a:solidFill>
                <a:latin typeface="맑은 고딕"/>
              </a:defRPr>
            </a:pPr>
            <a:r>
              <a:t>두 방법의 최종 가치·정책이 일치하며, 시작 상태 V(4,0) ≈ 0.47830이다.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3. 정책 반복과 가치 반복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6250" y="1162050"/>
          <a:ext cx="11239500" cy="3028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6500"/>
                <a:gridCol w="3746500"/>
                <a:gridCol w="3746500"/>
              </a:tblGrid>
              <a:tr h="504825">
                <a:tc>
                  <a:txBody>
                    <a:bodyPr/>
                    <a:lstStyle/>
                    <a:p>
                      <a:pPr algn="ctr">
                        <a:defRPr sz="16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비교 항목</a:t>
                      </a:r>
                    </a:p>
                  </a:txBody>
                  <a:tcPr anchor="ctr">
                    <a:solidFill>
                      <a:srgbClr val="1C5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정책 반복</a:t>
                      </a:r>
                    </a:p>
                  </a:txBody>
                  <a:tcPr anchor="ctr">
                    <a:solidFill>
                      <a:srgbClr val="1C5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가치 반복</a:t>
                      </a:r>
                    </a:p>
                  </a:txBody>
                  <a:tcPr anchor="ctr">
                    <a:solidFill>
                      <a:srgbClr val="1C50B3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가치 갱신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정책 확률로 가중 평균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행동별 값 중 최댓값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한 step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정책 평가 수렴 + 정책 개선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전체 상태 한 번 갱신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정책 계산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바깥 반복마다 개선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가치 수렴 후 최종 계산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종료 기준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정책이 더 이상 변하지 않음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최대 가치 변화 &lt; 0.001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이번 실행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평가·개선 5회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t>갱신 7회 (마지막은 변화 확인)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76250" y="4448175"/>
            <a:ext cx="11239500" cy="20002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1975" y="4962525"/>
            <a:ext cx="11068050" cy="1390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562475"/>
            <a:ext cx="108204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단계 수와 계산량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5095875"/>
            <a:ext cx="10763250" cy="12096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650" b="1">
                <a:solidFill>
                  <a:srgbClr val="080808"/>
                </a:solidFill>
                <a:latin typeface="맑은 고딕"/>
              </a:defRPr>
            </a:pPr>
            <a:r>
              <a:t>정책 반복은 초기의 음수 가치가 정책 개선에 따라 양수로 바뀐다.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650" b="1">
                <a:solidFill>
                  <a:srgbClr val="080808"/>
                </a:solidFill>
                <a:latin typeface="맑은 고딕"/>
              </a:defRPr>
            </a:pPr>
            <a:r>
              <a:t>가치 반복은 목표 주변의 양수 가치가 왼쪽·시작 상태로 점차 전달된다.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650" b="1">
                <a:solidFill>
                  <a:srgbClr val="080808"/>
                </a:solidFill>
                <a:latin typeface="맑은 고딕"/>
              </a:defRPr>
            </a:pPr>
            <a:r>
              <a:t>한 step의 계산량이 다르므로 그래프 수만으로 실행 속도를 비교할 수 없다.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7175" y="161925"/>
            <a:ext cx="11620500" cy="523874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3. 전체 결과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629400"/>
            <a:ext cx="952500" cy="228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6524625"/>
            <a:ext cx="1219200" cy="3333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900"/>
              </a:spcAft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pic>
        <p:nvPicPr>
          <p:cNvPr id="6" name="Picture 5" descr="step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238250"/>
            <a:ext cx="4857750" cy="48577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1781175"/>
            <a:ext cx="5543550" cy="424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1381125"/>
            <a:ext cx="5295900" cy="3619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t>•  결과 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175" y="1914525"/>
            <a:ext cx="5238750" cy="4067175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Quiz 1: 같은 환경에서도 어떤 정책을 따르는지에 따라 V가 달라진다. 목표 접근, 보상 지연, 반복 손실을 함께 고려해야 한다.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Quiz 2: 두 알고리즘은 다른 계산 과정으로 동일한 최적 가치와 정책에 도달한다.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시작 상태에서 폭탄을 피하는 8번의 이동으로 목표에 도달한다. 마지막 이동에서만 +1을 받아 V=0.9⁷≈0.47830.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t>폭탄 칸 자체의 V도 양수일 수 있다. 그 칸에서 출발해 앞으로 받을 보상을 평가하기 때문이다. 목표 V=0은 종료 규칙이다.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